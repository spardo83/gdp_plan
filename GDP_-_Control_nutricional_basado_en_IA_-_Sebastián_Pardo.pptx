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EDAFC0-8E24-4E64-98A3-01360F69E7E9}">
  <a:tblStyle styleId="{4BEDAFC0-8E24-4E64-98A3-01360F69E7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5C27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7D32">
              <a:alpha val="40000"/>
            </a:srgbClr>
          </a:solidFill>
          <a:ln cap="flat" cmpd="sng" w="12700">
            <a:solidFill>
              <a:srgbClr val="2E7D3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43A047">
              <a:alpha val="50196"/>
            </a:srgbClr>
          </a:solidFill>
          <a:ln cap="flat" cmpd="sng" w="12700">
            <a:solidFill>
              <a:srgbClr val="43A047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005840"/>
            <a:ext cx="109728" cy="3017520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31520" y="9144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nutricional basado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inteligencia artificial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Plan de Proyecto — Trabajo Final CEIA-FIUBA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3063240"/>
            <a:ext cx="5029200" cy="36576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Autor: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Lic. Sebastián Pardo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Director: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Facundo Lucianna (FIUBA)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FIUBA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Abril 2026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9325" y="3749018"/>
            <a:ext cx="2996151" cy="9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0040" y="786384"/>
            <a:ext cx="347472" cy="347472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0040" y="7863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74980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1289304"/>
            <a:ext cx="347472" cy="347472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20040" y="12893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77240" y="12527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Interesados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0040" y="1792224"/>
            <a:ext cx="347472" cy="347472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0040" y="17922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175564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Propósito y Alcance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2295144"/>
            <a:ext cx="347472" cy="347472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22951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77240" y="225856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0040" y="2798084"/>
            <a:ext cx="347400" cy="34740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0040" y="279808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77240" y="276150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0040" y="3301004"/>
            <a:ext cx="347400" cy="34740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0040" y="33010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77240" y="326442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WBS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09160" y="78638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09160" y="7863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166360" y="7498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Diagrama AoN y Camino Crítico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709160" y="128930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709160" y="12893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166360" y="125272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Gantt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09160" y="179222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709160" y="17922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166360" y="17556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09160" y="229514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709160" y="22951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166360" y="225856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09160" y="279806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09160" y="27980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66360" y="276148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Gestión de la Calidad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709160" y="3300984"/>
            <a:ext cx="347472" cy="347472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709160" y="33009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166360" y="32644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Procesos de Cierre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4"/>
          <p:cNvCxnSpPr/>
          <p:nvPr/>
        </p:nvCxnSpPr>
        <p:spPr>
          <a:xfrm>
            <a:off x="4572000" y="685800"/>
            <a:ext cx="0" cy="4114800"/>
          </a:xfrm>
          <a:prstGeom prst="straightConnector1">
            <a:avLst/>
          </a:prstGeom>
          <a:noFill/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4"/>
          <p:cNvSpPr txBox="1"/>
          <p:nvPr>
            <p:ph idx="12" type="sldNum"/>
          </p:nvPr>
        </p:nvSpPr>
        <p:spPr>
          <a:xfrm>
            <a:off x="8595309" y="46778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Técnica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74320" y="685800"/>
            <a:ext cx="4114800" cy="169164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11480" y="7315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41A"/>
                </a:solidFill>
                <a:latin typeface="Calibri"/>
                <a:ea typeface="Calibri"/>
                <a:cs typeface="Calibri"/>
                <a:sym typeface="Calibri"/>
              </a:rPr>
              <a:t>🔴 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11480" y="109728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Métodos tradicionales de registro nutricional (diario manual, recordatorio 24h): sesgo sistemático, baja adherencia (&lt;50% en semana 10) y alta fricción cognitiva.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685800"/>
            <a:ext cx="4206240" cy="16916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800600" y="731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 Solución propuesta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00600" y="109728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App móvil con visión por computadora e IA que: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Analiza fotografías de platos.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Identifica componentes alimentarios.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Estima porciones automáticamente.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Genera registro nutricional (cal, prot, grasas, CH).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74320" y="2487168"/>
            <a:ext cx="8686800" cy="274320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274320" y="2487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Flujo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56032" y="2834640"/>
            <a:ext cx="1078992" cy="594360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56032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Smartphone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335024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426464" y="2834640"/>
            <a:ext cx="1078992" cy="59436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426464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505456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2596896" y="2834640"/>
            <a:ext cx="1078992" cy="59436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2596896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CV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75888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767328" y="2834640"/>
            <a:ext cx="1078992" cy="59436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767328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46320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937760" y="2834640"/>
            <a:ext cx="1078992" cy="594360"/>
          </a:xfrm>
          <a:prstGeom prst="rect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937760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BD Nutricional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USDA / 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016752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108192" y="2834640"/>
            <a:ext cx="1078992" cy="594360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108192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187184" y="3090672"/>
            <a:ext cx="91440" cy="82296"/>
          </a:xfrm>
          <a:prstGeom prst="rect">
            <a:avLst/>
          </a:prstGeom>
          <a:solidFill>
            <a:srgbClr val="4A6B4D"/>
          </a:solidFill>
          <a:ln cap="flat" cmpd="sng" w="12700">
            <a:solidFill>
              <a:srgbClr val="4A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278624" y="2834640"/>
            <a:ext cx="1078992" cy="594360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7278624" y="2834640"/>
            <a:ext cx="10789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74320" y="3547872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👥 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Usuarios: Pacientes en seguimiento nutricional y profesionales de la salud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8556784" y="467566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Interesados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6"/>
          <p:cNvGraphicFramePr/>
          <p:nvPr/>
        </p:nvGraphicFramePr>
        <p:xfrm>
          <a:off x="274320" y="658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{4BEDAFC0-8E24-4E64-98A3-01360F69E7E9}</a:tableStyleId>
              </a:tblPr>
              <a:tblGrid>
                <a:gridCol w="1463050"/>
                <a:gridCol w="2926075"/>
                <a:gridCol w="42062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/ Entidad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Lic. Sebastián Pardo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Alumno CEIA-FIUBA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Dr. Facundo Lucianna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del Trabajo Final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 final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Personas en seguimiento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nutricional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Pacientes y usuarios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Potencial </a:t>
                      </a:r>
                      <a:r>
                        <a:rPr b="1"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AADYND / AALeN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Dietistas y Lic. en Nutrición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Potencial Interesado</a:t>
                      </a:r>
                      <a:endParaRPr b="1" sz="1200">
                        <a:solidFill>
                          <a:srgbClr val="1A2E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Sociedad Argentina de Diabetes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Potencial Interesado</a:t>
                      </a:r>
                      <a:endParaRPr b="1" sz="1200">
                        <a:solidFill>
                          <a:srgbClr val="1A2E1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SAOTA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Soc. Argentina de Obesidad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41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84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Opositor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4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884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MyFitnessPal, Cronometer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4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884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Apps de registro manual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556784" y="46809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Propósito y Alcance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274320" y="658368"/>
            <a:ext cx="868680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57200" y="658368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Propósito: </a:t>
            </a:r>
            <a:r>
              <a:rPr b="0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Facilitar el registro nutricional preciso y de baja fricción mediante IA y visión por computadora, reduciendo la carga cognitiva del seguimiento manual.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74320" y="1508760"/>
            <a:ext cx="4206240" cy="3200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74320" y="15087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INCLUYE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74320" y="187452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Dataset de imágenes de alimentos etiquetado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Modelo CV para detección/identificación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Módulo de estimación de porciones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Prototipo de app móvil 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663440" y="1508760"/>
            <a:ext cx="4206240" cy="320040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663440" y="15087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NO INCLUYE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663440" y="1923977"/>
            <a:ext cx="4206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Despliegue en producción (App Store / Google Play)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Modelo de negocio / monetización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Evaluación clínica formal con pacientes reales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7"/>
          <p:cNvCxnSpPr/>
          <p:nvPr/>
        </p:nvCxnSpPr>
        <p:spPr>
          <a:xfrm>
            <a:off x="4526280" y="1508760"/>
            <a:ext cx="0" cy="3383280"/>
          </a:xfrm>
          <a:prstGeom prst="straightConnector1">
            <a:avLst/>
          </a:prstGeom>
          <a:noFill/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7"/>
          <p:cNvSpPr txBox="1"/>
          <p:nvPr>
            <p:ph idx="12" type="sldNum"/>
          </p:nvPr>
        </p:nvSpPr>
        <p:spPr>
          <a:xfrm>
            <a:off x="8556784" y="467566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 Clave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74320" y="658368"/>
            <a:ext cx="5303520" cy="29260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74320" y="65836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74320" y="1024128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92608" y="102412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960120" y="102412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Captura/selección de foto de la comida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74320" y="1517904"/>
            <a:ext cx="5303520" cy="4572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92608" y="151790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60120" y="151790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Identificar ≥ 5 componentes en una imagen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74320" y="2011680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92608" y="20116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960120" y="201168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Exactitud top-1 ≥ 75% en imágenes locales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74320" y="2505456"/>
            <a:ext cx="5303520" cy="4572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92608" y="2505456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960120" y="2505456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Estimación de porciones con error relativo ≤ 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74320" y="2999232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92608" y="299923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60120" y="299923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Mostrar resumen nutricional (cal, prot, grasas, 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74320" y="3493008"/>
            <a:ext cx="5303520" cy="4572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9AC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92608" y="349300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RF10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960120" y="349300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Pipeline completo ≤ 30 segundos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760720" y="658368"/>
            <a:ext cx="3108960" cy="29260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760720" y="65836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760720" y="987552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iOS 15+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≤ 3 interacciones para fotografiar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• Resultado en misma pantalla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760720" y="2011680"/>
            <a:ext cx="3108960" cy="29260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760720" y="201168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760720" y="2340864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Datos personales conforme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Ley 25.326 (Argentina)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8"/>
          <p:cNvCxnSpPr/>
          <p:nvPr/>
        </p:nvCxnSpPr>
        <p:spPr>
          <a:xfrm>
            <a:off x="5669280" y="658368"/>
            <a:ext cx="0" cy="4206240"/>
          </a:xfrm>
          <a:prstGeom prst="straightConnector1">
            <a:avLst/>
          </a:prstGeom>
          <a:noFill/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8"/>
          <p:cNvSpPr txBox="1"/>
          <p:nvPr>
            <p:ph idx="12" type="sldNum"/>
          </p:nvPr>
        </p:nvSpPr>
        <p:spPr>
          <a:xfrm>
            <a:off x="8556784" y="467566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Entregables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74320" y="713232"/>
            <a:ext cx="502920" cy="50292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74320" y="713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45830" y="83667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Modelo de CV entrenado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274320" y="1399032"/>
            <a:ext cx="4297680" cy="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274320" y="1737360"/>
            <a:ext cx="502920" cy="50292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27432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45830" y="186081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Módulo de estimación de porciones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274320" y="2423160"/>
            <a:ext cx="4297680" cy="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9"/>
          <p:cNvSpPr/>
          <p:nvPr/>
        </p:nvSpPr>
        <p:spPr>
          <a:xfrm>
            <a:off x="274320" y="2761488"/>
            <a:ext cx="502920" cy="50292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27432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45830" y="2896301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Prototipo de app móvil 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9"/>
          <p:cNvCxnSpPr/>
          <p:nvPr/>
        </p:nvCxnSpPr>
        <p:spPr>
          <a:xfrm>
            <a:off x="274320" y="3447288"/>
            <a:ext cx="4297680" cy="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9"/>
          <p:cNvSpPr/>
          <p:nvPr/>
        </p:nvSpPr>
        <p:spPr>
          <a:xfrm>
            <a:off x="274320" y="3785616"/>
            <a:ext cx="502920" cy="502920"/>
          </a:xfrm>
          <a:prstGeom prst="ellipse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274320" y="37856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45892" y="3890766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Dataset de alimentos etiquetado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754880" y="713232"/>
            <a:ext cx="502920" cy="502920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754880" y="713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349302" y="83667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Capa de integración BD nutricional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9"/>
          <p:cNvCxnSpPr/>
          <p:nvPr/>
        </p:nvCxnSpPr>
        <p:spPr>
          <a:xfrm>
            <a:off x="4754880" y="1399032"/>
            <a:ext cx="4297680" cy="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9"/>
          <p:cNvSpPr/>
          <p:nvPr/>
        </p:nvSpPr>
        <p:spPr>
          <a:xfrm>
            <a:off x="4754880" y="1737360"/>
            <a:ext cx="502920" cy="502920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75488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303515" y="184251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Memoria del Trabajo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9"/>
          <p:cNvCxnSpPr/>
          <p:nvPr/>
        </p:nvCxnSpPr>
        <p:spPr>
          <a:xfrm>
            <a:off x="4754880" y="2423160"/>
            <a:ext cx="4297680" cy="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9"/>
          <p:cNvSpPr/>
          <p:nvPr/>
        </p:nvSpPr>
        <p:spPr>
          <a:xfrm>
            <a:off x="4754880" y="2761488"/>
            <a:ext cx="502920" cy="502920"/>
          </a:xfrm>
          <a:prstGeom prst="ellipse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75488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349240" y="2886913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Repositorio de código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4526280" y="658368"/>
            <a:ext cx="0" cy="4297680"/>
          </a:xfrm>
          <a:prstGeom prst="straightConnector1">
            <a:avLst/>
          </a:prstGeom>
          <a:noFill/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 txBox="1"/>
          <p:nvPr>
            <p:ph idx="12" type="sldNum"/>
          </p:nvPr>
        </p:nvSpPr>
        <p:spPr>
          <a:xfrm>
            <a:off x="8556784" y="46674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WBS — Desglose de Trabajo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9" name="Google Shape;229;p10"/>
          <p:cNvGraphicFramePr/>
          <p:nvPr/>
        </p:nvGraphicFramePr>
        <p:xfrm>
          <a:off x="914400" y="658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{4BEDAFC0-8E24-4E64-98A3-01360F69E7E9}</a:tableStyleId>
              </a:tblPr>
              <a:tblGrid>
                <a:gridCol w="5029200"/>
                <a:gridCol w="13716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de trabajo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Gestión del proyecto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Investigación y estado del arte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Datos: recolección y preparación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Modelo de reconocimiento de alimentos (CV)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Módulo de estimación de porciones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Integración con BD nutricional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Aplicación móvil iOS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Documentación y memoria del TF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41A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10"/>
          <p:cNvSpPr/>
          <p:nvPr/>
        </p:nvSpPr>
        <p:spPr>
          <a:xfrm>
            <a:off x="7472934" y="3201103"/>
            <a:ext cx="146304" cy="735389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7472934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642098" y="2465715"/>
            <a:ext cx="146304" cy="1470777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7642098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811262" y="1975456"/>
            <a:ext cx="146304" cy="1961036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811262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980426" y="749808"/>
            <a:ext cx="146304" cy="3186684"/>
          </a:xfrm>
          <a:prstGeom prst="rect">
            <a:avLst/>
          </a:prstGeom>
          <a:solidFill>
            <a:srgbClr val="1A5C2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980426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8149590" y="1485197"/>
            <a:ext cx="146304" cy="2451295"/>
          </a:xfrm>
          <a:prstGeom prst="rect">
            <a:avLst/>
          </a:prstGeom>
          <a:solidFill>
            <a:srgbClr val="1A5C2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8149590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318754" y="2710844"/>
            <a:ext cx="146304" cy="1225648"/>
          </a:xfrm>
          <a:prstGeom prst="rect">
            <a:avLst/>
          </a:prstGeom>
          <a:solidFill>
            <a:srgbClr val="2E7D3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318754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487918" y="1485197"/>
            <a:ext cx="146304" cy="2451295"/>
          </a:xfrm>
          <a:prstGeom prst="rect">
            <a:avLst/>
          </a:prstGeom>
          <a:solidFill>
            <a:srgbClr val="1A5C2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487918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8657082" y="749808"/>
            <a:ext cx="146304" cy="3186684"/>
          </a:xfrm>
          <a:prstGeom prst="rect">
            <a:avLst/>
          </a:prstGeom>
          <a:solidFill>
            <a:srgbClr val="1A5C2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657082" y="3982212"/>
            <a:ext cx="146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452360" y="4048963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Grupos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>
            <p:ph idx="12" type="sldNum"/>
          </p:nvPr>
        </p:nvSpPr>
        <p:spPr>
          <a:xfrm>
            <a:off x="8556784" y="467331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AoN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43695" y="1207008"/>
            <a:ext cx="8686800" cy="3108900"/>
          </a:xfrm>
          <a:prstGeom prst="rect">
            <a:avLst/>
          </a:prstGeom>
          <a:solidFill>
            <a:srgbClr val="F7FAF7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243695" y="1207008"/>
            <a:ext cx="86868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00" y="1528885"/>
            <a:ext cx="8686800" cy="278701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>
            <p:ph idx="12" type="sldNum"/>
          </p:nvPr>
        </p:nvSpPr>
        <p:spPr>
          <a:xfrm>
            <a:off x="8556784" y="467331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Gantt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74325" y="603825"/>
            <a:ext cx="8663400" cy="3105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274320" y="567697"/>
            <a:ext cx="8686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Período: 3 mar 2026 – 20 ene 2027   |   45 semanas   |   680 h totales (15 h/semana)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108960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2"/>
          <p:cNvCxnSpPr/>
          <p:nvPr/>
        </p:nvCxnSpPr>
        <p:spPr>
          <a:xfrm>
            <a:off x="3108960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2"/>
          <p:cNvSpPr/>
          <p:nvPr/>
        </p:nvSpPr>
        <p:spPr>
          <a:xfrm>
            <a:off x="3612896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Abr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2"/>
          <p:cNvCxnSpPr/>
          <p:nvPr/>
        </p:nvCxnSpPr>
        <p:spPr>
          <a:xfrm>
            <a:off x="3612896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2"/>
          <p:cNvSpPr/>
          <p:nvPr/>
        </p:nvSpPr>
        <p:spPr>
          <a:xfrm>
            <a:off x="4116832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2"/>
          <p:cNvCxnSpPr/>
          <p:nvPr/>
        </p:nvCxnSpPr>
        <p:spPr>
          <a:xfrm>
            <a:off x="4116832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2"/>
          <p:cNvSpPr/>
          <p:nvPr/>
        </p:nvSpPr>
        <p:spPr>
          <a:xfrm>
            <a:off x="4746752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2"/>
          <p:cNvCxnSpPr/>
          <p:nvPr/>
        </p:nvCxnSpPr>
        <p:spPr>
          <a:xfrm>
            <a:off x="4746752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2"/>
          <p:cNvSpPr/>
          <p:nvPr/>
        </p:nvSpPr>
        <p:spPr>
          <a:xfrm>
            <a:off x="5250688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2"/>
          <p:cNvCxnSpPr/>
          <p:nvPr/>
        </p:nvCxnSpPr>
        <p:spPr>
          <a:xfrm>
            <a:off x="5250688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2"/>
          <p:cNvSpPr/>
          <p:nvPr/>
        </p:nvSpPr>
        <p:spPr>
          <a:xfrm>
            <a:off x="5880608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Ago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2"/>
          <p:cNvCxnSpPr/>
          <p:nvPr/>
        </p:nvCxnSpPr>
        <p:spPr>
          <a:xfrm>
            <a:off x="5880608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2"/>
          <p:cNvSpPr/>
          <p:nvPr/>
        </p:nvSpPr>
        <p:spPr>
          <a:xfrm>
            <a:off x="6384544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2"/>
          <p:cNvCxnSpPr/>
          <p:nvPr/>
        </p:nvCxnSpPr>
        <p:spPr>
          <a:xfrm>
            <a:off x="6384544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2"/>
          <p:cNvSpPr/>
          <p:nvPr/>
        </p:nvSpPr>
        <p:spPr>
          <a:xfrm>
            <a:off x="6888480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2"/>
          <p:cNvCxnSpPr/>
          <p:nvPr/>
        </p:nvCxnSpPr>
        <p:spPr>
          <a:xfrm>
            <a:off x="6888480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2"/>
          <p:cNvSpPr/>
          <p:nvPr/>
        </p:nvSpPr>
        <p:spPr>
          <a:xfrm>
            <a:off x="7518400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2"/>
          <p:cNvCxnSpPr/>
          <p:nvPr/>
        </p:nvCxnSpPr>
        <p:spPr>
          <a:xfrm>
            <a:off x="7518400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2"/>
          <p:cNvSpPr/>
          <p:nvPr/>
        </p:nvSpPr>
        <p:spPr>
          <a:xfrm>
            <a:off x="8022336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Dic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2"/>
          <p:cNvCxnSpPr/>
          <p:nvPr/>
        </p:nvCxnSpPr>
        <p:spPr>
          <a:xfrm>
            <a:off x="8022336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2"/>
          <p:cNvSpPr/>
          <p:nvPr/>
        </p:nvSpPr>
        <p:spPr>
          <a:xfrm>
            <a:off x="8526272" y="9144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Ene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2"/>
          <p:cNvCxnSpPr/>
          <p:nvPr/>
        </p:nvCxnSpPr>
        <p:spPr>
          <a:xfrm>
            <a:off x="8526272" y="114300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2"/>
          <p:cNvSpPr/>
          <p:nvPr/>
        </p:nvSpPr>
        <p:spPr>
          <a:xfrm>
            <a:off x="274320" y="114300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1. Gestión del proyecto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3108960" y="1179576"/>
            <a:ext cx="5669280" cy="37261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274320" y="158877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2. Investigación / Estado del arte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3108960" y="1625346"/>
            <a:ext cx="1259840" cy="372618"/>
          </a:xfrm>
          <a:prstGeom prst="rect">
            <a:avLst/>
          </a:prstGeom>
          <a:solidFill>
            <a:srgbClr val="43A047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274320" y="203454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3. Datos: recolección y prep.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3864864" y="2071116"/>
            <a:ext cx="1511808" cy="372618"/>
          </a:xfrm>
          <a:prstGeom prst="rect">
            <a:avLst/>
          </a:prstGeom>
          <a:solidFill>
            <a:srgbClr val="388E3C"/>
          </a:solidFill>
          <a:ln cap="flat" cmpd="sng" w="1270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274320" y="248031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4. Modelo CV (reconocimiento)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368800" y="2516886"/>
            <a:ext cx="2267712" cy="37261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274320" y="292608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5. Módulo estimación de porciones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376672" y="2962656"/>
            <a:ext cx="1763776" cy="372618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274320" y="337185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6. Integración BD nutricional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132576" y="3408426"/>
            <a:ext cx="1007872" cy="372618"/>
          </a:xfrm>
          <a:prstGeom prst="rect">
            <a:avLst/>
          </a:prstGeom>
          <a:solidFill>
            <a:srgbClr val="33691E"/>
          </a:solidFill>
          <a:ln cap="flat" cmpd="sng" w="12700">
            <a:solidFill>
              <a:srgbClr val="336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274320" y="381762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7. App móvil 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636512" y="3854196"/>
            <a:ext cx="1763776" cy="37261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274320" y="4263390"/>
            <a:ext cx="27432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8. Documentación / Memoria 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888480" y="4299966"/>
            <a:ext cx="1889760" cy="372618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3855720" y="1143000"/>
            <a:ext cx="27432" cy="3566160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3590544" y="47091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841A"/>
                </a:solidFill>
                <a:latin typeface="Calibri"/>
                <a:ea typeface="Calibri"/>
                <a:cs typeface="Calibri"/>
                <a:sym typeface="Calibri"/>
              </a:rPr>
              <a:t>GdP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8517128" y="1143000"/>
            <a:ext cx="27432" cy="3566160"/>
          </a:xfrm>
          <a:prstGeom prst="rect">
            <a:avLst/>
          </a:prstGeom>
          <a:solidFill>
            <a:srgbClr val="D32F2F"/>
          </a:solidFill>
          <a:ln cap="flat" cmpd="sng" w="1270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114792" y="47091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Defensa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74320" y="4773168"/>
            <a:ext cx="164592" cy="1097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475488" y="4736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1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8841A"/>
                </a:solidFill>
                <a:latin typeface="Calibri"/>
                <a:ea typeface="Calibri"/>
                <a:cs typeface="Calibri"/>
                <a:sym typeface="Calibri"/>
              </a:rPr>
              <a:t>Hito GdP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554480" y="4773168"/>
            <a:ext cx="164592" cy="109728"/>
          </a:xfrm>
          <a:prstGeom prst="rect">
            <a:avLst/>
          </a:prstGeom>
          <a:solidFill>
            <a:srgbClr val="D32F2F"/>
          </a:solidFill>
          <a:ln cap="flat" cmpd="sng" w="1270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1755648" y="473659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Defensa pública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 txBox="1"/>
          <p:nvPr>
            <p:ph idx="12" type="sldNum"/>
          </p:nvPr>
        </p:nvSpPr>
        <p:spPr>
          <a:xfrm>
            <a:off x="8556784" y="467566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Presupuesto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274320" y="65836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expresados en ARS  |  Tipo de cambio referencia: USD 1 ≈ ARS 1.415 (abr-2026)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3"/>
          <p:cNvGraphicFramePr/>
          <p:nvPr/>
        </p:nvGraphicFramePr>
        <p:xfrm>
          <a:off x="274320" y="950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{4BEDAFC0-8E24-4E64-98A3-01360F69E7E9}</a:tableStyleId>
              </a:tblPr>
              <a:tblGrid>
                <a:gridCol w="3931925"/>
                <a:gridCol w="1005850"/>
                <a:gridCol w="2011675"/>
                <a:gridCol w="16459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Ítem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unitario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Cómputo GPU nube (Google Colab Pro, USD 9,99/mes)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meses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$14.136/mes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$127.224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DIRECTO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$127.224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Electricidad e internet (proporcional)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meses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$8.560/mes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$77.040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Amortización MacBook Pro M1 16GB (vida útil 5 años)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meses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$30.833/mes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$277.497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INDIRECTO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$354.537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5486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5AB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300" u="none" cap="none" strike="noStrike">
                          <a:solidFill>
                            <a:srgbClr val="A8D5A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 Ítems sin costo adicional: licencias de software, dispositivo iOS, acceso bibliográfico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GENERAL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$481.761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41A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13"/>
          <p:cNvSpPr txBox="1"/>
          <p:nvPr>
            <p:ph idx="12" type="sldNum"/>
          </p:nvPr>
        </p:nvSpPr>
        <p:spPr>
          <a:xfrm>
            <a:off x="8556784" y="46809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274320" y="658368"/>
            <a:ext cx="8686800" cy="256032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274320" y="65836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Criterio de mitigación: RPN &gt; 25  |  S = Severidad, O = Ocurrencia, RPN = S × 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2" name="Google Shape;342;p14"/>
          <p:cNvGraphicFramePr/>
          <p:nvPr/>
        </p:nvGraphicFramePr>
        <p:xfrm>
          <a:off x="274320" y="950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{4BEDAFC0-8E24-4E64-98A3-01360F69E7E9}</a:tableStyleId>
              </a:tblPr>
              <a:tblGrid>
                <a:gridCol w="274325"/>
                <a:gridCol w="2011675"/>
                <a:gridCol w="274325"/>
                <a:gridCol w="274325"/>
                <a:gridCol w="411475"/>
                <a:gridCol w="5349250"/>
              </a:tblGrid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Datasets no representativos (cocina local)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32F2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D32F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Recolección local (tarea 3c, 30h) + data augmentation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 insuficiente del modelo CV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32F2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D32F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Iteraciones de hiperparámetros; documentar si &lt;75%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estimación porciones &gt;30%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32F2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D32F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Ref. visual en imagen; LiDAR futuro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 de tiempo &lt;15h/semana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25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requiere mitigación activa (RPN &lt; 25)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Latencia del pipeline &gt;30s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41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84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REST backend (Google Cloud Run)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Cambio breaking en API BD nutricional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B4D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250" u="none" cap="none" strike="noStrike">
                          <a:solidFill>
                            <a:srgbClr val="4A6B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requiere mitigación activa (RPN &lt; 25)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43" name="Google Shape;343;p14"/>
          <p:cNvSpPr txBox="1"/>
          <p:nvPr>
            <p:ph idx="12" type="sldNum"/>
          </p:nvPr>
        </p:nvSpPr>
        <p:spPr>
          <a:xfrm>
            <a:off x="8556784" y="469627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la Calidad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274320" y="658368"/>
            <a:ext cx="8686800" cy="25603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274320" y="65836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4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A6B4D"/>
                </a:solidFill>
                <a:latin typeface="Calibri"/>
                <a:ea typeface="Calibri"/>
                <a:cs typeface="Calibri"/>
                <a:sym typeface="Calibri"/>
              </a:rPr>
              <a:t>10 requerimientos de mayor criticidad — Verificación (caja blanca) y Validación (caja negra)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" name="Google Shape;355;p15"/>
          <p:cNvGraphicFramePr/>
          <p:nvPr/>
        </p:nvGraphicFramePr>
        <p:xfrm>
          <a:off x="274320" y="950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{4BEDAFC0-8E24-4E64-98A3-01360F69E7E9}</a:tableStyleId>
              </a:tblPr>
              <a:tblGrid>
                <a:gridCol w="685800"/>
                <a:gridCol w="7909550"/>
              </a:tblGrid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 de éxito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C27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 unitaria PhotosUI + sesión de usabilidad con 3 usuarios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relativo medio ≤ 30% en ≥ 20 imágenes pesadas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end-to-end con 5 alimentos de BD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≤ 30s en 10 mediciones (Wi-Fi 50 Mbps)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3 toques para fotografiar (cámara y biblioteca)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5C2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5C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RReg1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1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E1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HTTPS, sin datos a terceros sin consentimiento, eliminación desde UI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CA9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56" name="Google Shape;356;p15"/>
          <p:cNvSpPr txBox="1"/>
          <p:nvPr>
            <p:ph idx="12" type="sldNum"/>
          </p:nvPr>
        </p:nvSpPr>
        <p:spPr>
          <a:xfrm>
            <a:off x="8556784" y="468861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C27"/>
          </a:solidFill>
          <a:ln cap="flat" cmpd="sng" w="12700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164592" y="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Procesos de Cierre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D4E6D5"/>
          </a:solidFill>
          <a:ln cap="flat" cmpd="sng" w="12700">
            <a:solidFill>
              <a:srgbClr val="D4E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787025" y="721475"/>
            <a:ext cx="7909500" cy="7377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1A5C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924180" y="776346"/>
            <a:ext cx="7589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C27"/>
                </a:solidFill>
                <a:latin typeface="Calibri"/>
                <a:ea typeface="Calibri"/>
                <a:cs typeface="Calibri"/>
                <a:sym typeface="Calibri"/>
              </a:rPr>
              <a:t>Análisis de adherencia al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924175" y="955365"/>
            <a:ext cx="75894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En los 15 días post-defensa, reunión con el director comparando Gantt planificado vs. real. Cálculo de SV (Variance Schedule) por grupo de tareas.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787025" y="1572324"/>
            <a:ext cx="7886700" cy="881700"/>
          </a:xfrm>
          <a:prstGeom prst="rect">
            <a:avLst/>
          </a:prstGeom>
          <a:solidFill>
            <a:srgbClr val="F7FAF7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947043" y="1572328"/>
            <a:ext cx="7589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Lecciones aprendidas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938750" y="1695355"/>
            <a:ext cx="7589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Documento con: herramientas y su utilidad real, problemas significativos y resolución, recomendaciones para trabajos futuros en reconocimiento de alimentos locales.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Publicado en docs/lecciones_aprendidas.md del repositorio.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764125" y="2561039"/>
            <a:ext cx="7909500" cy="6666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935643" y="2605282"/>
            <a:ext cx="7589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4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41A"/>
                </a:solidFill>
                <a:latin typeface="Calibri"/>
                <a:ea typeface="Calibri"/>
                <a:cs typeface="Calibri"/>
                <a:sym typeface="Calibri"/>
              </a:rPr>
              <a:t>Acto de agradecimiento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924205" y="2605278"/>
            <a:ext cx="7589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1D"/>
                </a:solidFill>
                <a:latin typeface="Calibri"/>
                <a:ea typeface="Calibri"/>
                <a:cs typeface="Calibri"/>
                <a:sym typeface="Calibri"/>
              </a:rPr>
              <a:t>Encuentro informal con el director, colaboradores de anotación y licenciados en nutrición. Dentro de los 30 días post-defensa.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>
            <p:ph idx="12" type="sldNum"/>
          </p:nvPr>
        </p:nvSpPr>
        <p:spPr>
          <a:xfrm>
            <a:off x="8556784" y="467566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5C27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2E7D32">
              <a:alpha val="40000"/>
            </a:srgbClr>
          </a:solidFill>
          <a:ln cap="flat" cmpd="sng" w="12700">
            <a:solidFill>
              <a:srgbClr val="2E7D3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43A047">
              <a:alpha val="40000"/>
            </a:srgbClr>
          </a:solidFill>
          <a:ln cap="flat" cmpd="sng" w="12700">
            <a:solidFill>
              <a:srgbClr val="43A04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1828800" y="2697480"/>
            <a:ext cx="5486400" cy="64008"/>
          </a:xfrm>
          <a:prstGeom prst="rect">
            <a:avLst/>
          </a:prstGeom>
          <a:solidFill>
            <a:srgbClr val="E8841A"/>
          </a:solidFill>
          <a:ln cap="flat" cmpd="sng" w="12700">
            <a:solidFill>
              <a:srgbClr val="E884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914400" y="64008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nutricional basado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inteligencia artificial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Lic. Sebastián Pardo — CEIA FIUBA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A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5AB"/>
                </a:solidFill>
                <a:latin typeface="Calibri"/>
                <a:ea typeface="Calibri"/>
                <a:cs typeface="Calibri"/>
                <a:sym typeface="Calibri"/>
              </a:rPr>
              <a:t>Director: Dr. Facundo Lucianna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4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41A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